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8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3" r:id="rId18"/>
    <p:sldId id="324" r:id="rId19"/>
    <p:sldId id="325" r:id="rId20"/>
    <p:sldId id="326" r:id="rId21"/>
    <p:sldId id="32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7364361" cy="3686015"/>
          </a:xfrm>
        </p:spPr>
        <p:txBody>
          <a:bodyPr>
            <a:noAutofit/>
          </a:bodyPr>
          <a:lstStyle/>
          <a:p>
            <a:pPr algn="ctr"/>
            <a:r>
              <a:rPr lang="en-US" sz="4800" b="0" i="0" dirty="0">
                <a:effectLst/>
                <a:latin typeface="Arial" panose="020B0604020202020204" pitchFamily="34" charset="0"/>
              </a:rPr>
              <a:t>Smart Farming: Leveraging Big Data</a:t>
            </a:r>
            <a:br>
              <a:rPr lang="en-US" sz="4800" dirty="0"/>
            </a:br>
            <a:r>
              <a:rPr lang="en-US" sz="4800" b="0" i="0" dirty="0">
                <a:effectLst/>
                <a:latin typeface="Arial" panose="020B0604020202020204" pitchFamily="34" charset="0"/>
              </a:rPr>
              <a:t>for Sustainable Agricultural Practices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8"/>
            <a:ext cx="6269347" cy="1905042"/>
          </a:xfrm>
        </p:spPr>
        <p:txBody>
          <a:bodyPr>
            <a:normAutofit fontScale="62500" lnSpcReduction="20000"/>
          </a:bodyPr>
          <a:lstStyle/>
          <a:p>
            <a:pPr algn="r"/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by:</a:t>
            </a:r>
          </a:p>
          <a:p>
            <a:pPr algn="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Kirran S T</a:t>
            </a:r>
          </a:p>
          <a:p>
            <a:pPr algn="r"/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Dharanibalan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R</a:t>
            </a:r>
          </a:p>
          <a:p>
            <a:pPr algn="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Arjun G</a:t>
            </a:r>
          </a:p>
          <a:p>
            <a:pPr algn="r"/>
            <a:r>
              <a:rPr 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Alagu</a:t>
            </a: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Surya 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09935" y="1"/>
            <a:ext cx="398206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CB32-901A-4DA0-AA8A-9A7B5A88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DB081-36D4-610C-3EAC-6BC35F6C8F51}"/>
              </a:ext>
            </a:extLst>
          </p:cNvPr>
          <p:cNvSpPr txBox="1"/>
          <p:nvPr/>
        </p:nvSpPr>
        <p:spPr>
          <a:xfrm>
            <a:off x="1834699" y="2219998"/>
            <a:ext cx="8583562" cy="279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Farmers face challenges managing irrigation, fertilizer, and yield.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Traditional methods lack real-time data and insights.</a:t>
            </a:r>
          </a:p>
          <a:p>
            <a:pPr marL="914400" lvl="1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Need for an automated system to analyze sensor data and provide actionable advice.</a:t>
            </a:r>
          </a:p>
        </p:txBody>
      </p:sp>
    </p:spTree>
    <p:extLst>
      <p:ext uri="{BB962C8B-B14F-4D97-AF65-F5344CB8AC3E}">
        <p14:creationId xmlns:p14="http://schemas.microsoft.com/office/powerpoint/2010/main" val="248254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5B7E-9F27-0C83-43C8-82C42B6FA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4AB0E-C7F4-1683-C470-627FCBAF653A}"/>
              </a:ext>
            </a:extLst>
          </p:cNvPr>
          <p:cNvSpPr txBox="1"/>
          <p:nvPr/>
        </p:nvSpPr>
        <p:spPr>
          <a:xfrm>
            <a:off x="2031344" y="2326030"/>
            <a:ext cx="8190271" cy="279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Franklin Gothic Book (Body)"/>
              </a:rPr>
              <a:t>Collect and store sensor data efficiently.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Franklin Gothic Book (Body)"/>
              </a:rPr>
              <a:t>Process and analyze farm data in real time.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Franklin Gothic Book (Body)"/>
              </a:rPr>
              <a:t>Generate intelligent suggestions (irrigation, pH, fertilizer).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Franklin Gothic Book (Body)"/>
              </a:rPr>
              <a:t>Visualize data and insights through a professional dashboard.</a:t>
            </a:r>
          </a:p>
        </p:txBody>
      </p:sp>
    </p:spTree>
    <p:extLst>
      <p:ext uri="{BB962C8B-B14F-4D97-AF65-F5344CB8AC3E}">
        <p14:creationId xmlns:p14="http://schemas.microsoft.com/office/powerpoint/2010/main" val="10004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74AC5-0777-202D-1DCA-8CC9BC8C8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Technologies Used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386BB3E-F185-71D4-AA5E-3EA1AA353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824346"/>
              </p:ext>
            </p:extLst>
          </p:nvPr>
        </p:nvGraphicFramePr>
        <p:xfrm>
          <a:off x="1096963" y="2891314"/>
          <a:ext cx="10058400" cy="21945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879322189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8822059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783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970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355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227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541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80959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3D89AA-5389-2C98-A72B-564097A4C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38212"/>
              </p:ext>
            </p:extLst>
          </p:nvPr>
        </p:nvGraphicFramePr>
        <p:xfrm>
          <a:off x="1686898" y="2492288"/>
          <a:ext cx="8509154" cy="259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0368">
                  <a:extLst>
                    <a:ext uri="{9D8B030D-6E8A-4147-A177-3AD203B41FA5}">
                      <a16:colId xmlns:a16="http://schemas.microsoft.com/office/drawing/2014/main" val="1193990912"/>
                    </a:ext>
                  </a:extLst>
                </a:gridCol>
                <a:gridCol w="5138786">
                  <a:extLst>
                    <a:ext uri="{9D8B030D-6E8A-4147-A177-3AD203B41FA5}">
                      <a16:colId xmlns:a16="http://schemas.microsoft.com/office/drawing/2014/main" val="396734967"/>
                    </a:ext>
                  </a:extLst>
                </a:gridCol>
              </a:tblGrid>
              <a:tr h="4273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637076"/>
                  </a:ext>
                </a:extLst>
              </a:tr>
              <a:tr h="433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Frontend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HTML 5, CSS 3, JavaScript, Chart.js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796635"/>
                  </a:ext>
                </a:extLst>
              </a:tr>
              <a:tr h="433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Backend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Node.js + Express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179769"/>
                  </a:ext>
                </a:extLst>
              </a:tr>
              <a:tr h="433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Database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188308"/>
                  </a:ext>
                </a:extLst>
              </a:tr>
              <a:tr h="433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Data Import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csv-parser (Node module)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6590782"/>
                  </a:ext>
                </a:extLst>
              </a:tr>
              <a:tr h="433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Tools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 err="1"/>
                        <a:t>npm</a:t>
                      </a:r>
                      <a:r>
                        <a:rPr lang="en-IN" dirty="0"/>
                        <a:t>, VS Code, MongoDB Compass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38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394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83BBF-AA4E-99A6-E911-C9108CBE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5CAEA-0685-D6DD-FF6D-A3CA77DF9DCA}"/>
              </a:ext>
            </a:extLst>
          </p:cNvPr>
          <p:cNvSpPr txBox="1"/>
          <p:nvPr/>
        </p:nvSpPr>
        <p:spPr>
          <a:xfrm>
            <a:off x="2340077" y="2260015"/>
            <a:ext cx="6096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/>
              <a:t>CSV Dataset</a:t>
            </a:r>
          </a:p>
          <a:p>
            <a:pPr algn="ctr"/>
            <a:r>
              <a:rPr lang="en-IN" sz="2400" dirty="0"/>
              <a:t>     ↓</a:t>
            </a:r>
          </a:p>
          <a:p>
            <a:pPr algn="ctr"/>
            <a:r>
              <a:rPr lang="en-IN" sz="2400" dirty="0"/>
              <a:t>CSV Import Script (Node.js)</a:t>
            </a:r>
          </a:p>
          <a:p>
            <a:pPr algn="ctr">
              <a:lnSpc>
                <a:spcPct val="150000"/>
              </a:lnSpc>
            </a:pPr>
            <a:r>
              <a:rPr lang="en-IN" sz="2400" dirty="0"/>
              <a:t>     ↓</a:t>
            </a:r>
          </a:p>
          <a:p>
            <a:pPr algn="ctr"/>
            <a:r>
              <a:rPr lang="en-IN" sz="2400" dirty="0"/>
              <a:t>MongoDB Database</a:t>
            </a:r>
          </a:p>
          <a:p>
            <a:pPr algn="ctr"/>
            <a:r>
              <a:rPr lang="en-IN" sz="2400" dirty="0"/>
              <a:t>     ↓</a:t>
            </a:r>
          </a:p>
          <a:p>
            <a:pPr algn="ctr"/>
            <a:r>
              <a:rPr lang="en-IN" sz="2400" dirty="0"/>
              <a:t>Express API (stats &amp; insights)</a:t>
            </a:r>
          </a:p>
          <a:p>
            <a:pPr algn="ctr"/>
            <a:r>
              <a:rPr lang="en-IN" sz="2400" dirty="0"/>
              <a:t>     ↓</a:t>
            </a:r>
          </a:p>
          <a:p>
            <a:pPr algn="ctr"/>
            <a:r>
              <a:rPr lang="en-IN" sz="2400" dirty="0"/>
              <a:t>Frontend Dashboard (Charts + Advice)</a:t>
            </a:r>
          </a:p>
        </p:txBody>
      </p:sp>
    </p:spTree>
    <p:extLst>
      <p:ext uri="{BB962C8B-B14F-4D97-AF65-F5344CB8AC3E}">
        <p14:creationId xmlns:p14="http://schemas.microsoft.com/office/powerpoint/2010/main" val="1309951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08CED-AF0D-8754-B091-4E06EE787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2834E-F997-1718-932F-7391039D206E}"/>
              </a:ext>
            </a:extLst>
          </p:cNvPr>
          <p:cNvSpPr txBox="1"/>
          <p:nvPr/>
        </p:nvSpPr>
        <p:spPr>
          <a:xfrm>
            <a:off x="1756041" y="2086621"/>
            <a:ext cx="9757533" cy="3348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File: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smart_farming.csv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Contains climate and nutrient readings for multiple ODA zones.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Example fields:</a:t>
            </a:r>
          </a:p>
          <a:p>
            <a:pPr marL="1257300" lvl="2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ODA1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CLIMATE_Temp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, ODA1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CLIMATE_Nem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, ODA1 DOSE_EC_EC, ODA1 DOSE_PH_PH, ODA1 CLIMATE_Co2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Represents temperature, humidity, EC, pH, and CO₂.</a:t>
            </a:r>
          </a:p>
        </p:txBody>
      </p:sp>
    </p:spTree>
    <p:extLst>
      <p:ext uri="{BB962C8B-B14F-4D97-AF65-F5344CB8AC3E}">
        <p14:creationId xmlns:p14="http://schemas.microsoft.com/office/powerpoint/2010/main" val="1988214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95F8-CD7F-838E-229C-217841874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Import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41F266-3030-A022-5C97-55068EF573CE}"/>
              </a:ext>
            </a:extLst>
          </p:cNvPr>
          <p:cNvSpPr txBox="1"/>
          <p:nvPr/>
        </p:nvSpPr>
        <p:spPr>
          <a:xfrm>
            <a:off x="1907458" y="2308693"/>
            <a:ext cx="7393858" cy="2240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import_csv.js reads the CSV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csv-parser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Converts numeric strings to numbers.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Inserts rows into MongoDB collection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“sensors”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Ensures scalable data storage for future automation.</a:t>
            </a:r>
          </a:p>
        </p:txBody>
      </p:sp>
    </p:spTree>
    <p:extLst>
      <p:ext uri="{BB962C8B-B14F-4D97-AF65-F5344CB8AC3E}">
        <p14:creationId xmlns:p14="http://schemas.microsoft.com/office/powerpoint/2010/main" val="673847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BC5D5-580B-E589-F44B-44431FF6A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4E95B-EDB6-874C-75AC-357BC6B6A2BC}"/>
              </a:ext>
            </a:extLst>
          </p:cNvPr>
          <p:cNvSpPr txBox="1"/>
          <p:nvPr/>
        </p:nvSpPr>
        <p:spPr>
          <a:xfrm>
            <a:off x="1598726" y="2254619"/>
            <a:ext cx="10298306" cy="334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Built with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Express.js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framework.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Connects to local MongoDB  (mongodb://localhost:27017/smart_farming).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Provides two key API endpoints: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/stats – Aggregated averages/min/max per ODA.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/insights – Heuristic-based smart advice.</a:t>
            </a:r>
          </a:p>
          <a:p>
            <a:pPr marL="34290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 (Body)"/>
            </a:endParaRPr>
          </a:p>
        </p:txBody>
      </p:sp>
    </p:spTree>
    <p:extLst>
      <p:ext uri="{BB962C8B-B14F-4D97-AF65-F5344CB8AC3E}">
        <p14:creationId xmlns:p14="http://schemas.microsoft.com/office/powerpoint/2010/main" val="234075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3C806-EB7A-1CE2-9D68-FF6340C4C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Analysis Logic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040701-A42A-DD9C-5FE4-3204F064C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861818"/>
              </p:ext>
            </p:extLst>
          </p:nvPr>
        </p:nvGraphicFramePr>
        <p:xfrm>
          <a:off x="1551858" y="2224001"/>
          <a:ext cx="9088284" cy="3350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9428">
                  <a:extLst>
                    <a:ext uri="{9D8B030D-6E8A-4147-A177-3AD203B41FA5}">
                      <a16:colId xmlns:a16="http://schemas.microsoft.com/office/drawing/2014/main" val="624490572"/>
                    </a:ext>
                  </a:extLst>
                </a:gridCol>
                <a:gridCol w="3029428">
                  <a:extLst>
                    <a:ext uri="{9D8B030D-6E8A-4147-A177-3AD203B41FA5}">
                      <a16:colId xmlns:a16="http://schemas.microsoft.com/office/drawing/2014/main" val="3334832806"/>
                    </a:ext>
                  </a:extLst>
                </a:gridCol>
                <a:gridCol w="3029428">
                  <a:extLst>
                    <a:ext uri="{9D8B030D-6E8A-4147-A177-3AD203B41FA5}">
                      <a16:colId xmlns:a16="http://schemas.microsoft.com/office/drawing/2014/main" val="2496388922"/>
                    </a:ext>
                  </a:extLst>
                </a:gridCol>
              </a:tblGrid>
              <a:tr h="41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Condition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Recommendation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745276"/>
                  </a:ext>
                </a:extLst>
              </a:tr>
              <a:tr h="41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Humidity &lt; 60 %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Low irrigation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Increase watering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8369889"/>
                  </a:ext>
                </a:extLst>
              </a:tr>
              <a:tr h="41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Temp &gt; 30 °C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Heat 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Provide shade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356700"/>
                  </a:ext>
                </a:extLst>
              </a:tr>
              <a:tr h="41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EC &lt; 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Low nutrients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 fertilizer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857280"/>
                  </a:ext>
                </a:extLst>
              </a:tr>
              <a:tr h="41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EC &gt; 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Salt 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Flush with clean water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2449205"/>
                  </a:ext>
                </a:extLst>
              </a:tr>
              <a:tr h="41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pH &lt; 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Acidic soil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Apply lime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7742808"/>
                  </a:ext>
                </a:extLst>
              </a:tr>
              <a:tr h="41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pH &gt; 6.8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Alkaline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Add acidic fertilizer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239267"/>
                  </a:ext>
                </a:extLst>
              </a:tr>
              <a:tr h="4188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CO₂ &lt; 350 ppm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Poor photosynthesis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Enrich CO₂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9076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3338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D0D3-CB7C-D563-B8F2-C85A56C5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Dashboard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0993F-609E-8CAF-1F8C-EAC9B281DDCD}"/>
              </a:ext>
            </a:extLst>
          </p:cNvPr>
          <p:cNvSpPr txBox="1"/>
          <p:nvPr/>
        </p:nvSpPr>
        <p:spPr>
          <a:xfrm>
            <a:off x="1956620" y="2113935"/>
            <a:ext cx="8750709" cy="2794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Franklin Gothic Book (Body)"/>
              </a:rPr>
              <a:t>Responsive HTML + CSS interface.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Franklin Gothic Book (Body)"/>
              </a:rPr>
              <a:t>Displays real-time stats (total data, sensor zones, last update).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Franklin Gothic Book (Body)"/>
              </a:rPr>
              <a:t>Multiple visual charts (Temperature, Humidity, EC, pH).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Franklin Gothic Book (Body)"/>
              </a:rPr>
              <a:t>Lists recommendations in clean cards.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sz="2400" dirty="0">
              <a:latin typeface="Franklin Gothic Book (Body)"/>
            </a:endParaRPr>
          </a:p>
        </p:txBody>
      </p:sp>
    </p:spTree>
    <p:extLst>
      <p:ext uri="{BB962C8B-B14F-4D97-AF65-F5344CB8AC3E}">
        <p14:creationId xmlns:p14="http://schemas.microsoft.com/office/powerpoint/2010/main" val="194471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6A844-034C-7446-2A32-C1D91C8C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Chart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5D7E9D-D696-888E-B27A-B8AC842C95C6}"/>
              </a:ext>
            </a:extLst>
          </p:cNvPr>
          <p:cNvSpPr txBox="1"/>
          <p:nvPr/>
        </p:nvSpPr>
        <p:spPr>
          <a:xfrm>
            <a:off x="2694039" y="2101163"/>
            <a:ext cx="6096000" cy="334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Built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Chart.js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Four interactive bar charts: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Temperature (°C)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Humidity (%)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EC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/m)</a:t>
            </a:r>
          </a:p>
          <a:p>
            <a:pPr marL="1257300" lvl="2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pH</a:t>
            </a:r>
          </a:p>
        </p:txBody>
      </p:sp>
    </p:spTree>
    <p:extLst>
      <p:ext uri="{BB962C8B-B14F-4D97-AF65-F5344CB8AC3E}">
        <p14:creationId xmlns:p14="http://schemas.microsoft.com/office/powerpoint/2010/main" val="3575576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7F73A-4A68-198D-4F42-49831492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UI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66D75-BE5D-4D24-A5EB-D945248E87FD}"/>
              </a:ext>
            </a:extLst>
          </p:cNvPr>
          <p:cNvSpPr txBox="1"/>
          <p:nvPr/>
        </p:nvSpPr>
        <p:spPr>
          <a:xfrm>
            <a:off x="2192592" y="2250342"/>
            <a:ext cx="6882581" cy="279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Dark, glass-like theme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for modern look.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Inter font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for readability.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Responsive grid cards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 using CSS grid.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Smooth hover transitions and soft glow effects.</a:t>
            </a: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 (Body)"/>
              </a:rPr>
              <a:t>Separate styles.css file for maintainability.</a:t>
            </a:r>
          </a:p>
        </p:txBody>
      </p:sp>
    </p:spTree>
    <p:extLst>
      <p:ext uri="{BB962C8B-B14F-4D97-AF65-F5344CB8AC3E}">
        <p14:creationId xmlns:p14="http://schemas.microsoft.com/office/powerpoint/2010/main" val="2955635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15B0-8DBA-6494-40F5-E898FC75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FFD443-FA75-ADAB-D0F4-F6D2768AB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77" y="2109805"/>
            <a:ext cx="10559845" cy="39348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3013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D6944-C9C6-54C8-9ED2-4FC5BFD0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033DDE-2888-6537-380B-F3BD9F569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67" y="2012811"/>
            <a:ext cx="10382865" cy="426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990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02D21-2D7D-ADC5-43F6-A81B818C5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  <a:endParaRPr lang="en-IN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711F47-B4F3-26D8-C1D6-2F9357B07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180" y="2002323"/>
            <a:ext cx="9114503" cy="432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93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F4A0-9A64-D66B-7C8D-3E7185D3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</a:t>
            </a: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964A48-CD2E-A377-2BA7-0E5C7D432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878" y="1971373"/>
            <a:ext cx="5981522" cy="43507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93767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CEB4-EAB7-7AAD-1F14-328E93EDC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Benefits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FCF4A-3E28-0DE9-2772-F18A2694993E}"/>
              </a:ext>
            </a:extLst>
          </p:cNvPr>
          <p:cNvSpPr txBox="1"/>
          <p:nvPr/>
        </p:nvSpPr>
        <p:spPr>
          <a:xfrm>
            <a:off x="2369574" y="2299505"/>
            <a:ext cx="6626942" cy="334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Centralized farm data storage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Clear visual analytics for decision making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/>
              <a:t>Automated recommendations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Scalable architecture (can add IoT sensors)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Easy to deploy on MongoDB Atlas + Render</a:t>
            </a:r>
            <a:br>
              <a:rPr lang="en-US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20246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E59F-BB65-93D4-B02C-446562750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Future Enhancements &amp;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E43EB-E125-F5D4-140E-4ADED9DBBAB8}"/>
              </a:ext>
            </a:extLst>
          </p:cNvPr>
          <p:cNvSpPr txBox="1"/>
          <p:nvPr/>
        </p:nvSpPr>
        <p:spPr>
          <a:xfrm>
            <a:off x="2045110" y="2004536"/>
            <a:ext cx="6096000" cy="234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Future Improvements: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Real-time IoT sensor streaming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AI/ML for yield prediction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Weather API integration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Mobile-friendly progressive web app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693CA-AA44-DA6A-71A5-DA7082C6A45A}"/>
              </a:ext>
            </a:extLst>
          </p:cNvPr>
          <p:cNvSpPr txBox="1"/>
          <p:nvPr/>
        </p:nvSpPr>
        <p:spPr>
          <a:xfrm>
            <a:off x="2045110" y="4348767"/>
            <a:ext cx="8308258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Conclusion:</a:t>
            </a:r>
            <a:endParaRPr lang="en-US" sz="2000" dirty="0"/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 This project demonstrates how combining </a:t>
            </a:r>
            <a:r>
              <a:rPr lang="en-US" sz="2000" b="1" dirty="0"/>
              <a:t>Node.js, MongoDB, and data visualization</a:t>
            </a:r>
            <a:r>
              <a:rPr lang="en-US" sz="2000" dirty="0"/>
              <a:t> can make agriculture smarter, sustainable, and data-driven.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46101257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ppt/theme/themeOverride2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{64C1F11E-0900-44B5-81D2-D8557BB358C3}tf33845126_win32</Template>
  <TotalTime>81</TotalTime>
  <Words>581</Words>
  <Application>Microsoft Office PowerPoint</Application>
  <PresentationFormat>Widescreen</PresentationFormat>
  <Paragraphs>116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Bookman Old Style</vt:lpstr>
      <vt:lpstr>Calibri</vt:lpstr>
      <vt:lpstr>Franklin Gothic Book</vt:lpstr>
      <vt:lpstr>Franklin Gothic Book (Body)</vt:lpstr>
      <vt:lpstr>Wingdings</vt:lpstr>
      <vt:lpstr>1_RetrospectVTI</vt:lpstr>
      <vt:lpstr>Smart Farming: Leveraging Big Data for Sustainable Agricultural Practices </vt:lpstr>
      <vt:lpstr>Problem Statement</vt:lpstr>
      <vt:lpstr>Objectives</vt:lpstr>
      <vt:lpstr>Technologies Used</vt:lpstr>
      <vt:lpstr>System Architecture</vt:lpstr>
      <vt:lpstr>Dataset Overview</vt:lpstr>
      <vt:lpstr>Data Import Process</vt:lpstr>
      <vt:lpstr>Backend Architecture</vt:lpstr>
      <vt:lpstr>Data Analysis Logic</vt:lpstr>
      <vt:lpstr>Frontend Dashboard Features</vt:lpstr>
      <vt:lpstr>Chart Visualization</vt:lpstr>
      <vt:lpstr>UI Design</vt:lpstr>
      <vt:lpstr>Dataset</vt:lpstr>
      <vt:lpstr>Output</vt:lpstr>
      <vt:lpstr>Output</vt:lpstr>
      <vt:lpstr>Database</vt:lpstr>
      <vt:lpstr>Results &amp; Benefits</vt:lpstr>
      <vt:lpstr>Future Enhancements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Dharanibalan R</dc:creator>
  <cp:lastModifiedBy>Kirran S.T</cp:lastModifiedBy>
  <cp:revision>4</cp:revision>
  <dcterms:created xsi:type="dcterms:W3CDTF">2025-10-26T16:24:38Z</dcterms:created>
  <dcterms:modified xsi:type="dcterms:W3CDTF">2025-10-27T09:33:00Z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